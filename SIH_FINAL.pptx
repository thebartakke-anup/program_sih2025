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2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19-Sep-25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A8C5-E30B-4A10-2BC6-4D9BB7CF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793A177A-3827-555B-EDA2-86EEF4DA9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78E01647-6217-709E-43D0-5D3DA46455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99A8B79-CF20-715C-9423-3C60FBA26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2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72E7-1EC6-9383-A26F-7DAFFACF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972EFCF9-4212-ECD7-8A2A-32E29CC88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167DC64A-2440-C6C7-14BE-0351CB64D9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03752FE2-9ECD-C3BF-169C-4F24A9772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5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85AA-DADC-6152-DA67-69BD195C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493D9CE5-317B-E038-651D-F3DCB37B7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E7091B8-62E0-1301-65E3-8F06BA17F0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B811BF92-88F0-B8B3-CA06-A87E7F865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28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214E2-B07B-9414-DE7A-152F3853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A0AECDE3-7A85-F6E2-A2AD-A90AD210D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9D8E86-49FB-78F1-5A49-4F223C1323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8B5AD3E-8DA6-6926-D142-65E72A549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43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19-Sep-25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19-Sep-25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19-Sep-25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19-Sep-25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19-Sep-25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19-Sep-25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19-Sep-25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png"/><Relationship Id="rId7" Type="http://schemas.openxmlformats.org/officeDocument/2006/relationships/hyperlink" Target="https://www.iconfinder.com/icons/10421442/plain_text_file_ic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https://recfaces.com/articles/facial-recognition-algorithms" TargetMode="External"/><Relationship Id="rId5" Type="http://schemas.openxmlformats.org/officeDocument/2006/relationships/hyperlink" Target="https://drzreflects.blogspot.com/2021/01/taking-attendance-during-zoom-class.html" TargetMode="External"/><Relationship Id="rId10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hyperlink" Target="https://www.slideteam.net/0914-network-of-laptop-computers-for-centralize-functions-stock-photo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hyperlink" Target="https://fi.wikipedia.org/wiki/Raspberry_Pi" TargetMode="Externa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12.png"/><Relationship Id="rId5" Type="http://schemas.openxmlformats.org/officeDocument/2006/relationships/hyperlink" Target="https://areologieizwiring.z14.web.core.windows.net/esp32-c3-devkit.html" TargetMode="External"/><Relationship Id="rId10" Type="http://schemas.openxmlformats.org/officeDocument/2006/relationships/image" Target="../media/image11.png"/><Relationship Id="rId4" Type="http://schemas.openxmlformats.org/officeDocument/2006/relationships/image" Target="../media/image7.jp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ti.gov.in/sites/default/files/2021-11/BCG_SATHE_DIGITAL_13112021_0.pdf" TargetMode="External"/><Relationship Id="rId13" Type="http://schemas.openxmlformats.org/officeDocument/2006/relationships/hyperlink" Target="https://docs.m5stack.com/en/unit/esp32ca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iti.gov.in/index.php/project-sath-e" TargetMode="External"/><Relationship Id="rId12" Type="http://schemas.openxmlformats.org/officeDocument/2006/relationships/hyperlink" Target="https://www.espressif.com/sites/default/files/documentation/esp32_technical_reference_manual_en.pdf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raspberrypi.com/document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ert.delhi.gov.in/scert/nep-2020-documents" TargetMode="External"/><Relationship Id="rId11" Type="http://schemas.openxmlformats.org/officeDocument/2006/relationships/hyperlink" Target="https://www.espressif.com/sites/default/files/documentation/esp32_datasheet_en.pdf" TargetMode="External"/><Relationship Id="rId5" Type="http://schemas.openxmlformats.org/officeDocument/2006/relationships/hyperlink" Target="https://www.india.gov.in/content/digital-india" TargetMode="External"/><Relationship Id="rId15" Type="http://schemas.openxmlformats.org/officeDocument/2006/relationships/hyperlink" Target="https://manuals.plus/raspberry-pi/raspberry-pi-4-computer-model-b-manual" TargetMode="External"/><Relationship Id="rId10" Type="http://schemas.openxmlformats.org/officeDocument/2006/relationships/hyperlink" Target="https://www.niti.gov.in/node/1141" TargetMode="External"/><Relationship Id="rId4" Type="http://schemas.openxmlformats.org/officeDocument/2006/relationships/hyperlink" Target="https://timesofindia.indiatimes.com/city/delhi/govt-schools-to-get-smart-boards/articleshow/122326683.cms" TargetMode="External"/><Relationship Id="rId9" Type="http://schemas.openxmlformats.org/officeDocument/2006/relationships/hyperlink" Target="https://www.niti.gov.in/sites/default/files/2023-11/Project-SATH-Learings-for-Large-Scale-Tranformation-in-School-Education_compressed.pdf" TargetMode="External"/><Relationship Id="rId14" Type="http://schemas.openxmlformats.org/officeDocument/2006/relationships/hyperlink" Target="https://www.raspberrypi.com/documentation/computers/getting-starte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78014" y="3229625"/>
            <a:ext cx="2663352" cy="259828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32647" y="107153"/>
            <a:ext cx="7526703" cy="615351"/>
          </a:xfrm>
        </p:spPr>
        <p:txBody>
          <a:bodyPr/>
          <a:lstStyle/>
          <a:p>
            <a:r>
              <a:rPr lang="en-US" sz="3600" b="1" u="sng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3600" b="1" u="sng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586" y="1460456"/>
            <a:ext cx="10146414" cy="395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25012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System for Rural 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Education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&lt;N/A&gt;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A6437-E190-32F2-1CF4-4E6727A4F72E}"/>
              </a:ext>
            </a:extLst>
          </p:cNvPr>
          <p:cNvSpPr txBox="1"/>
          <p:nvPr/>
        </p:nvSpPr>
        <p:spPr>
          <a:xfrm>
            <a:off x="2273029" y="1333232"/>
            <a:ext cx="764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Automated Attendance System for Rural Schools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88666"/>
            <a:ext cx="12191999" cy="36933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730" y="98074"/>
            <a:ext cx="1067339" cy="5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72D0E-00CE-BA6D-A212-5CA29B7E7634}"/>
              </a:ext>
            </a:extLst>
          </p:cNvPr>
          <p:cNvSpPr txBox="1"/>
          <p:nvPr/>
        </p:nvSpPr>
        <p:spPr>
          <a:xfrm>
            <a:off x="-1" y="0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1D165-97FC-7C44-6272-233833522830}"/>
              </a:ext>
            </a:extLst>
          </p:cNvPr>
          <p:cNvSpPr txBox="1"/>
          <p:nvPr/>
        </p:nvSpPr>
        <p:spPr>
          <a:xfrm>
            <a:off x="2273028" y="66671"/>
            <a:ext cx="764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Attendance Management System (AMS)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58E16-89BD-FEFB-4121-2DF977B81849}"/>
              </a:ext>
            </a:extLst>
          </p:cNvPr>
          <p:cNvSpPr txBox="1"/>
          <p:nvPr/>
        </p:nvSpPr>
        <p:spPr>
          <a:xfrm>
            <a:off x="4719127" y="6545108"/>
            <a:ext cx="2753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2025 – Internal 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047B7-A135-499F-1EBF-E9ACFB8228BA}"/>
              </a:ext>
            </a:extLst>
          </p:cNvPr>
          <p:cNvSpPr txBox="1"/>
          <p:nvPr/>
        </p:nvSpPr>
        <p:spPr>
          <a:xfrm>
            <a:off x="11891520" y="6545108"/>
            <a:ext cx="22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D01A6-BD62-CA85-7E09-5385222DABF4}"/>
              </a:ext>
            </a:extLst>
          </p:cNvPr>
          <p:cNvSpPr txBox="1"/>
          <p:nvPr/>
        </p:nvSpPr>
        <p:spPr>
          <a:xfrm>
            <a:off x="75931" y="535898"/>
            <a:ext cx="9854368" cy="540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is :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camera captures the student’s face and checks against a pre-defined data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is marked present for that class.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as a “.csv” file and is Excel compatible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then exported to a central PC for the records.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can be used for various purposes such as (direct entry in official records)-(informing parents if student misses any class)-(linking to ABC ID for credits)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4C1A24-79E1-2D82-3ADA-1501B331DB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347233" y="1940046"/>
            <a:ext cx="1844767" cy="1307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3F5792-4C67-A57B-BCD0-D154B24FE6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347232" y="3304433"/>
            <a:ext cx="1844767" cy="1307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E8CD85-4607-2062-18D5-F1EAD950A0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347233" y="4668820"/>
            <a:ext cx="1844767" cy="13079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0EA05-2F7B-1B1C-6C22-5ACF97B55B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0347232" y="697031"/>
            <a:ext cx="1844768" cy="11865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5963-8293-89ED-816E-1A16C95F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D11D32-E41E-6682-953C-E4FB0F7C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666"/>
            <a:ext cx="12191999" cy="36933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31DA80BC-1967-75BA-08E9-5B1C2046E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730" y="98074"/>
            <a:ext cx="1067339" cy="5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55A0C-5CC0-E12F-0454-B0B95555FC6F}"/>
              </a:ext>
            </a:extLst>
          </p:cNvPr>
          <p:cNvSpPr txBox="1"/>
          <p:nvPr/>
        </p:nvSpPr>
        <p:spPr>
          <a:xfrm>
            <a:off x="-1" y="0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70192-B102-21A4-DE9C-9B52BB3BE042}"/>
              </a:ext>
            </a:extLst>
          </p:cNvPr>
          <p:cNvSpPr txBox="1"/>
          <p:nvPr/>
        </p:nvSpPr>
        <p:spPr>
          <a:xfrm>
            <a:off x="2273028" y="66671"/>
            <a:ext cx="764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726BC-F6F8-8E0F-4A41-33620D7FA1F9}"/>
              </a:ext>
            </a:extLst>
          </p:cNvPr>
          <p:cNvSpPr txBox="1"/>
          <p:nvPr/>
        </p:nvSpPr>
        <p:spPr>
          <a:xfrm>
            <a:off x="4719127" y="6545108"/>
            <a:ext cx="2753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2025 – Internal 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94D50-C082-45BD-8CD5-4E2EEBF43118}"/>
              </a:ext>
            </a:extLst>
          </p:cNvPr>
          <p:cNvSpPr txBox="1"/>
          <p:nvPr/>
        </p:nvSpPr>
        <p:spPr>
          <a:xfrm>
            <a:off x="11891520" y="6545108"/>
            <a:ext cx="22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AC2DC-424D-837F-A46D-6BA2DC652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72442" y="721059"/>
            <a:ext cx="2719150" cy="1646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695D7-1A70-2605-F12D-F23F871974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372442" y="2937218"/>
            <a:ext cx="2719150" cy="169721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E4ADAEF-9842-809E-2BCC-9594A74F8A64}"/>
              </a:ext>
            </a:extLst>
          </p:cNvPr>
          <p:cNvSpPr/>
          <p:nvPr/>
        </p:nvSpPr>
        <p:spPr>
          <a:xfrm>
            <a:off x="10859654" y="4633145"/>
            <a:ext cx="139653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12319-DCFD-72CE-ADD8-3BE2649B66B7}"/>
              </a:ext>
            </a:extLst>
          </p:cNvPr>
          <p:cNvSpPr/>
          <p:nvPr/>
        </p:nvSpPr>
        <p:spPr>
          <a:xfrm>
            <a:off x="11278549" y="1992768"/>
            <a:ext cx="81304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E8BB4-E305-7D80-EA27-A4419D9DB1A6}"/>
              </a:ext>
            </a:extLst>
          </p:cNvPr>
          <p:cNvSpPr txBox="1"/>
          <p:nvPr/>
        </p:nvSpPr>
        <p:spPr>
          <a:xfrm>
            <a:off x="750741" y="1430253"/>
            <a:ext cx="111493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22104-3BF8-2D25-256E-3DEDA48469D7}"/>
              </a:ext>
            </a:extLst>
          </p:cNvPr>
          <p:cNvSpPr txBox="1"/>
          <p:nvPr/>
        </p:nvSpPr>
        <p:spPr>
          <a:xfrm>
            <a:off x="525135" y="721059"/>
            <a:ext cx="1566151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capture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D2F6D-491D-2289-BC48-3436D42DEBE1}"/>
              </a:ext>
            </a:extLst>
          </p:cNvPr>
          <p:cNvSpPr txBox="1"/>
          <p:nvPr/>
        </p:nvSpPr>
        <p:spPr>
          <a:xfrm>
            <a:off x="5554345" y="732269"/>
            <a:ext cx="1465632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(local)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E3B35-A78B-9A85-68AE-89CCF2EE9DFF}"/>
              </a:ext>
            </a:extLst>
          </p:cNvPr>
          <p:cNvSpPr txBox="1"/>
          <p:nvPr/>
        </p:nvSpPr>
        <p:spPr>
          <a:xfrm>
            <a:off x="7589045" y="736433"/>
            <a:ext cx="1138136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FEB344-B6A6-93C3-1FDC-3BD118E0B486}"/>
              </a:ext>
            </a:extLst>
          </p:cNvPr>
          <p:cNvSpPr txBox="1"/>
          <p:nvPr/>
        </p:nvSpPr>
        <p:spPr>
          <a:xfrm>
            <a:off x="2387987" y="705656"/>
            <a:ext cx="1892027" cy="4001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A06B7-D2AB-7EB0-6718-7D3A313763C7}"/>
              </a:ext>
            </a:extLst>
          </p:cNvPr>
          <p:cNvSpPr txBox="1"/>
          <p:nvPr/>
        </p:nvSpPr>
        <p:spPr>
          <a:xfrm>
            <a:off x="672671" y="2402660"/>
            <a:ext cx="127107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images (variable)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DCA74-E579-57F0-165F-59C0C5053107}"/>
              </a:ext>
            </a:extLst>
          </p:cNvPr>
          <p:cNvSpPr txBox="1"/>
          <p:nvPr/>
        </p:nvSpPr>
        <p:spPr>
          <a:xfrm>
            <a:off x="2164238" y="1441551"/>
            <a:ext cx="23330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LBPH (Local Binary Pattern Histograms)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18480-FEED-297F-75D2-4CB547FBD95D}"/>
              </a:ext>
            </a:extLst>
          </p:cNvPr>
          <p:cNvSpPr txBox="1"/>
          <p:nvPr/>
        </p:nvSpPr>
        <p:spPr>
          <a:xfrm>
            <a:off x="2181266" y="3055993"/>
            <a:ext cx="229896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RPi 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5 cameras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9BD7B-A1FA-9280-3DBB-D657F6BF3062}"/>
              </a:ext>
            </a:extLst>
          </p:cNvPr>
          <p:cNvSpPr txBox="1"/>
          <p:nvPr/>
        </p:nvSpPr>
        <p:spPr>
          <a:xfrm>
            <a:off x="5453208" y="1441551"/>
            <a:ext cx="1667905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SSD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547B01-9063-74DD-944D-D931B790E956}"/>
              </a:ext>
            </a:extLst>
          </p:cNvPr>
          <p:cNvSpPr txBox="1"/>
          <p:nvPr/>
        </p:nvSpPr>
        <p:spPr>
          <a:xfrm>
            <a:off x="2440667" y="2402660"/>
            <a:ext cx="178016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BAB313-4FF5-0F93-9BB0-F50DBD8984AF}"/>
              </a:ext>
            </a:extLst>
          </p:cNvPr>
          <p:cNvSpPr txBox="1"/>
          <p:nvPr/>
        </p:nvSpPr>
        <p:spPr>
          <a:xfrm>
            <a:off x="5505068" y="3165099"/>
            <a:ext cx="159208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Excel (.csv)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BD8E0D-AE93-365B-3AFA-C29707B42A04}"/>
              </a:ext>
            </a:extLst>
          </p:cNvPr>
          <p:cNvSpPr txBox="1"/>
          <p:nvPr/>
        </p:nvSpPr>
        <p:spPr>
          <a:xfrm>
            <a:off x="5535866" y="4142677"/>
            <a:ext cx="153048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it the Central PC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7EF722-8A3B-FBC4-5FCE-B790BC906613}"/>
              </a:ext>
            </a:extLst>
          </p:cNvPr>
          <p:cNvSpPr txBox="1"/>
          <p:nvPr/>
        </p:nvSpPr>
        <p:spPr>
          <a:xfrm>
            <a:off x="7589045" y="1430253"/>
            <a:ext cx="1138136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Absent email to parents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841769-11D5-C5AF-1A86-F99D3689DBE3}"/>
              </a:ext>
            </a:extLst>
          </p:cNvPr>
          <p:cNvSpPr txBox="1"/>
          <p:nvPr/>
        </p:nvSpPr>
        <p:spPr>
          <a:xfrm>
            <a:off x="7504330" y="2739626"/>
            <a:ext cx="130756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for Govt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DC3EE3-C64E-374F-492C-0CDC04D1341A}"/>
              </a:ext>
            </a:extLst>
          </p:cNvPr>
          <p:cNvSpPr txBox="1"/>
          <p:nvPr/>
        </p:nvSpPr>
        <p:spPr>
          <a:xfrm>
            <a:off x="5467159" y="2149437"/>
            <a:ext cx="166790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SD Card (chip)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4EB48F-4EF9-AAFA-C810-0237E569ED5C}"/>
              </a:ext>
            </a:extLst>
          </p:cNvPr>
          <p:cNvSpPr txBox="1"/>
          <p:nvPr/>
        </p:nvSpPr>
        <p:spPr>
          <a:xfrm>
            <a:off x="7362069" y="3741222"/>
            <a:ext cx="166828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of attendance to teacher’s mail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0F03B5-4597-92D2-8884-1F11EF9B3EC4}"/>
              </a:ext>
            </a:extLst>
          </p:cNvPr>
          <p:cNvSpPr txBox="1"/>
          <p:nvPr/>
        </p:nvSpPr>
        <p:spPr>
          <a:xfrm>
            <a:off x="9546013" y="5352940"/>
            <a:ext cx="2627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E1A668-FD74-A5B7-5EE9-E12FF2C5A448}"/>
              </a:ext>
            </a:extLst>
          </p:cNvPr>
          <p:cNvCxnSpPr>
            <a:cxnSpLocks/>
          </p:cNvCxnSpPr>
          <p:nvPr/>
        </p:nvCxnSpPr>
        <p:spPr>
          <a:xfrm flipH="1">
            <a:off x="1308209" y="1113010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5526FF-518B-15F0-D5D4-A02B3C93025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308210" y="1830363"/>
            <a:ext cx="0" cy="572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3A2A2F-6969-25DF-9513-95A93864C23C}"/>
              </a:ext>
            </a:extLst>
          </p:cNvPr>
          <p:cNvCxnSpPr>
            <a:cxnSpLocks/>
          </p:cNvCxnSpPr>
          <p:nvPr/>
        </p:nvCxnSpPr>
        <p:spPr>
          <a:xfrm flipH="1">
            <a:off x="3330748" y="1097617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0AA05B-827C-AFF3-2DB0-A6150473D9E4}"/>
              </a:ext>
            </a:extLst>
          </p:cNvPr>
          <p:cNvCxnSpPr>
            <a:cxnSpLocks/>
          </p:cNvCxnSpPr>
          <p:nvPr/>
        </p:nvCxnSpPr>
        <p:spPr>
          <a:xfrm flipH="1">
            <a:off x="3330747" y="2143478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C297BB-3135-C7F7-4D40-649742AE6E01}"/>
              </a:ext>
            </a:extLst>
          </p:cNvPr>
          <p:cNvCxnSpPr>
            <a:cxnSpLocks/>
          </p:cNvCxnSpPr>
          <p:nvPr/>
        </p:nvCxnSpPr>
        <p:spPr>
          <a:xfrm flipH="1">
            <a:off x="3302723" y="2755949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C27E0C9-A012-0FCF-6745-BF7E396CE373}"/>
              </a:ext>
            </a:extLst>
          </p:cNvPr>
          <p:cNvCxnSpPr>
            <a:cxnSpLocks/>
          </p:cNvCxnSpPr>
          <p:nvPr/>
        </p:nvCxnSpPr>
        <p:spPr>
          <a:xfrm flipH="1">
            <a:off x="6285536" y="1129173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1DDEFCD-4BFC-4342-AA5F-AB29AAABF8FB}"/>
              </a:ext>
            </a:extLst>
          </p:cNvPr>
          <p:cNvCxnSpPr>
            <a:cxnSpLocks/>
          </p:cNvCxnSpPr>
          <p:nvPr/>
        </p:nvCxnSpPr>
        <p:spPr>
          <a:xfrm flipH="1">
            <a:off x="6283912" y="1858737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5265F9-6F9B-F34F-D654-D8DA228317AC}"/>
              </a:ext>
            </a:extLst>
          </p:cNvPr>
          <p:cNvCxnSpPr>
            <a:cxnSpLocks/>
          </p:cNvCxnSpPr>
          <p:nvPr/>
        </p:nvCxnSpPr>
        <p:spPr>
          <a:xfrm flipH="1">
            <a:off x="6309214" y="2884209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81684DD-6719-43FA-6047-370F59ED799E}"/>
              </a:ext>
            </a:extLst>
          </p:cNvPr>
          <p:cNvCxnSpPr>
            <a:cxnSpLocks/>
          </p:cNvCxnSpPr>
          <p:nvPr/>
        </p:nvCxnSpPr>
        <p:spPr>
          <a:xfrm flipH="1">
            <a:off x="6299486" y="3901206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0A7A3394-250B-5C7D-0AA4-106F56EEF7DB}"/>
              </a:ext>
            </a:extLst>
          </p:cNvPr>
          <p:cNvSpPr/>
          <p:nvPr/>
        </p:nvSpPr>
        <p:spPr>
          <a:xfrm>
            <a:off x="2090474" y="726190"/>
            <a:ext cx="285346" cy="36933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FF3E3E39-77AE-4E80-C2C3-518748096E0E}"/>
              </a:ext>
            </a:extLst>
          </p:cNvPr>
          <p:cNvSpPr/>
          <p:nvPr/>
        </p:nvSpPr>
        <p:spPr>
          <a:xfrm>
            <a:off x="4299874" y="736433"/>
            <a:ext cx="1254471" cy="36933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6F7BE13-A9B0-FAA1-022A-1F3B89814C4A}"/>
              </a:ext>
            </a:extLst>
          </p:cNvPr>
          <p:cNvSpPr/>
          <p:nvPr/>
        </p:nvSpPr>
        <p:spPr>
          <a:xfrm>
            <a:off x="6992391" y="736433"/>
            <a:ext cx="596654" cy="369332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3C6258-D46F-DCCA-8F54-972BA00A9AFF}"/>
              </a:ext>
            </a:extLst>
          </p:cNvPr>
          <p:cNvCxnSpPr>
            <a:cxnSpLocks/>
          </p:cNvCxnSpPr>
          <p:nvPr/>
        </p:nvCxnSpPr>
        <p:spPr>
          <a:xfrm flipH="1">
            <a:off x="8196209" y="1136543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B6902CA-5993-1074-C796-C4ECA686499F}"/>
              </a:ext>
            </a:extLst>
          </p:cNvPr>
          <p:cNvCxnSpPr>
            <a:cxnSpLocks/>
          </p:cNvCxnSpPr>
          <p:nvPr/>
        </p:nvCxnSpPr>
        <p:spPr>
          <a:xfrm flipH="1">
            <a:off x="8196210" y="2446865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609C183-7173-55F5-2CFE-699F28244DA6}"/>
              </a:ext>
            </a:extLst>
          </p:cNvPr>
          <p:cNvCxnSpPr>
            <a:cxnSpLocks/>
          </p:cNvCxnSpPr>
          <p:nvPr/>
        </p:nvCxnSpPr>
        <p:spPr>
          <a:xfrm flipH="1">
            <a:off x="8175947" y="3458474"/>
            <a:ext cx="1" cy="30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7DE80217-F469-09AD-F0A3-8FF4120E9E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8190" y="5120254"/>
            <a:ext cx="2686835" cy="173523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E1CE177-49F4-D330-8E34-28CD598705A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34955" b="32797"/>
          <a:stretch>
            <a:fillRect/>
          </a:stretch>
        </p:blipFill>
        <p:spPr>
          <a:xfrm>
            <a:off x="2198651" y="4612703"/>
            <a:ext cx="2136411" cy="225337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670B251-9C82-4B1E-F64D-B920D80841E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3569" b="4208"/>
          <a:stretch>
            <a:fillRect/>
          </a:stretch>
        </p:blipFill>
        <p:spPr>
          <a:xfrm>
            <a:off x="-24268" y="4595182"/>
            <a:ext cx="2202172" cy="226030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86342CE-97B0-364A-58C4-2E523C07430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402" r="9199"/>
          <a:stretch>
            <a:fillRect/>
          </a:stretch>
        </p:blipFill>
        <p:spPr>
          <a:xfrm>
            <a:off x="8811895" y="5140899"/>
            <a:ext cx="3391653" cy="173523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E85C5F2-044A-1075-712D-731A0553F5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5924" y="5129820"/>
            <a:ext cx="2095971" cy="17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1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FA0A-AD68-9A44-4BAB-8EB80E175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719FFE-2A71-3731-8CF7-01B32C57A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666"/>
            <a:ext cx="12191999" cy="36933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1FB88701-F582-DE21-6B53-1B425CB83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730" y="98074"/>
            <a:ext cx="1067339" cy="5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F5AA1C-6B19-D8FB-E115-E1E508B03AA9}"/>
              </a:ext>
            </a:extLst>
          </p:cNvPr>
          <p:cNvSpPr txBox="1"/>
          <p:nvPr/>
        </p:nvSpPr>
        <p:spPr>
          <a:xfrm>
            <a:off x="-1" y="0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6F5DF-BDBE-C9B0-3406-F1EF569EDDEF}"/>
              </a:ext>
            </a:extLst>
          </p:cNvPr>
          <p:cNvSpPr txBox="1"/>
          <p:nvPr/>
        </p:nvSpPr>
        <p:spPr>
          <a:xfrm>
            <a:off x="2273028" y="66671"/>
            <a:ext cx="764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Viability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C32CF-3619-93F2-42B0-5CF65A64BB07}"/>
              </a:ext>
            </a:extLst>
          </p:cNvPr>
          <p:cNvSpPr txBox="1"/>
          <p:nvPr/>
        </p:nvSpPr>
        <p:spPr>
          <a:xfrm>
            <a:off x="4719127" y="6545108"/>
            <a:ext cx="2753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2025 – Internal 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D0F1D-D97C-D745-BF0C-0056C52363E2}"/>
              </a:ext>
            </a:extLst>
          </p:cNvPr>
          <p:cNvSpPr txBox="1"/>
          <p:nvPr/>
        </p:nvSpPr>
        <p:spPr>
          <a:xfrm>
            <a:off x="11891520" y="6545108"/>
            <a:ext cx="22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C87D4-5DD2-9B99-B6CE-EC777EB04F28}"/>
              </a:ext>
            </a:extLst>
          </p:cNvPr>
          <p:cNvSpPr txBox="1"/>
          <p:nvPr/>
        </p:nvSpPr>
        <p:spPr>
          <a:xfrm>
            <a:off x="180159" y="4211099"/>
            <a:ext cx="11831675" cy="1883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Class (50 students) == 35 Rooms == (1.7K students) == 3 RPi4 == 7 Camera(ESP module)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3(5500) + 7(2000) + Operation Costs  </a:t>
            </a:r>
            <a:r>
              <a:rPr lang="en-US" sz="2000" b="1" u="sng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30.5 K INR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Basic Per Class Costing  </a:t>
            </a:r>
            <a:r>
              <a:rPr lang="en-US" sz="2000" b="1" u="sng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871 (~ 900 INR)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Time Viability : 1.5s per scan == 1 Camera per section == 250 students  </a:t>
            </a:r>
            <a:r>
              <a:rPr lang="en-US" sz="2000" b="1" u="sng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6 – 7m per Section/5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551E0-D065-A460-CFF0-6AC00F97FB40}"/>
              </a:ext>
            </a:extLst>
          </p:cNvPr>
          <p:cNvSpPr txBox="1"/>
          <p:nvPr/>
        </p:nvSpPr>
        <p:spPr>
          <a:xfrm>
            <a:off x="284395" y="640550"/>
            <a:ext cx="11623204" cy="3176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viable solution since it is cost effective, avoids errors, has a back-up copy of the data and is user friendly.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just a camera + Local Storage + PC/Arduino/ESP32 (cost effective for rural schools)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: Accurate face-scan             Strategies:  LBHP (capture &amp; recognize)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Manual Data-entries                             Direct data fetched from Govt. Records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Govt. Data Access                                Negotiations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Tracking                                               SMS to parents when class is missed</a:t>
            </a:r>
          </a:p>
        </p:txBody>
      </p:sp>
    </p:spTree>
    <p:extLst>
      <p:ext uri="{BB962C8B-B14F-4D97-AF65-F5344CB8AC3E}">
        <p14:creationId xmlns:p14="http://schemas.microsoft.com/office/powerpoint/2010/main" val="198171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A496-81AA-52A2-60C2-D80BBE30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A60D17-946B-08D7-D34B-B61A30BA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666"/>
            <a:ext cx="12191999" cy="36933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E33054B1-4EC2-E789-2187-DF75291A9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730" y="98074"/>
            <a:ext cx="1067339" cy="5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3BFE1E-AD0D-A742-B204-0543975E309F}"/>
              </a:ext>
            </a:extLst>
          </p:cNvPr>
          <p:cNvSpPr txBox="1"/>
          <p:nvPr/>
        </p:nvSpPr>
        <p:spPr>
          <a:xfrm>
            <a:off x="-1" y="0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46A19-054D-F7ED-ED50-4C67E9FBC392}"/>
              </a:ext>
            </a:extLst>
          </p:cNvPr>
          <p:cNvSpPr txBox="1"/>
          <p:nvPr/>
        </p:nvSpPr>
        <p:spPr>
          <a:xfrm>
            <a:off x="2273028" y="66671"/>
            <a:ext cx="764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34D993-DC12-32EF-2FA1-495B88FDA259}"/>
              </a:ext>
            </a:extLst>
          </p:cNvPr>
          <p:cNvSpPr txBox="1"/>
          <p:nvPr/>
        </p:nvSpPr>
        <p:spPr>
          <a:xfrm>
            <a:off x="4719127" y="6545108"/>
            <a:ext cx="2753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2025 – Internal 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0C9924-9E92-E30D-DEE1-71ADFA42911B}"/>
              </a:ext>
            </a:extLst>
          </p:cNvPr>
          <p:cNvSpPr txBox="1"/>
          <p:nvPr/>
        </p:nvSpPr>
        <p:spPr>
          <a:xfrm>
            <a:off x="11891520" y="6545108"/>
            <a:ext cx="22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C6ACFF-69F7-6FAC-9699-8B270B981F0B}"/>
              </a:ext>
            </a:extLst>
          </p:cNvPr>
          <p:cNvSpPr txBox="1"/>
          <p:nvPr/>
        </p:nvSpPr>
        <p:spPr>
          <a:xfrm>
            <a:off x="284395" y="707888"/>
            <a:ext cx="11623204" cy="5889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valuable time is saved (No manual attendance or manual data entries).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Negligible paperwork required.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records directly exported to Government records (ABC/APAAR IDs) for academic credits and Govt. Resource management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analytics to monitor student engagement levels, and also informs the parents.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No Proxy  Time &amp; Money Saved  Better education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4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A63B-2557-75AC-78FD-6386BF90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12632D-152D-4E83-7D50-F50F0A39B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8666"/>
            <a:ext cx="12191999" cy="36933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6487D913-C327-D853-5ECE-DE551BF80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730" y="98074"/>
            <a:ext cx="1067339" cy="54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259C1-C7EA-245A-5EA7-883250A2A222}"/>
              </a:ext>
            </a:extLst>
          </p:cNvPr>
          <p:cNvSpPr txBox="1"/>
          <p:nvPr/>
        </p:nvSpPr>
        <p:spPr>
          <a:xfrm>
            <a:off x="-1" y="0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Agastya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D9E1B3-FD35-1094-A020-A463632AEE8C}"/>
              </a:ext>
            </a:extLst>
          </p:cNvPr>
          <p:cNvSpPr txBox="1"/>
          <p:nvPr/>
        </p:nvSpPr>
        <p:spPr>
          <a:xfrm>
            <a:off x="2273028" y="66671"/>
            <a:ext cx="764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3BD31-91B7-111B-772B-95297B5F7E86}"/>
              </a:ext>
            </a:extLst>
          </p:cNvPr>
          <p:cNvSpPr txBox="1"/>
          <p:nvPr/>
        </p:nvSpPr>
        <p:spPr>
          <a:xfrm>
            <a:off x="4719127" y="6545108"/>
            <a:ext cx="27537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2025 – Internal 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036258-4B3A-6314-BCC3-6BA4C898ED4F}"/>
              </a:ext>
            </a:extLst>
          </p:cNvPr>
          <p:cNvSpPr txBox="1"/>
          <p:nvPr/>
        </p:nvSpPr>
        <p:spPr>
          <a:xfrm>
            <a:off x="11891520" y="6545108"/>
            <a:ext cx="224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1A0D9-6B6F-F670-F9A1-806E82CF782E}"/>
              </a:ext>
            </a:extLst>
          </p:cNvPr>
          <p:cNvSpPr txBox="1"/>
          <p:nvPr/>
        </p:nvSpPr>
        <p:spPr>
          <a:xfrm>
            <a:off x="75931" y="651446"/>
            <a:ext cx="1219199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Smart-Boards in every school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https://timesofindia.indiatimes.com/city/delhi/govt-schools-to-get-smart-boards/articleshow/122326683.cms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Digital India: </a:t>
            </a:r>
            <a:r>
              <a:rPr lang="en-US" dirty="0">
                <a:hlinkClick r:id="rId5"/>
              </a:rPr>
              <a:t>https://www.india.gov.in/content/digital-india</a:t>
            </a:r>
            <a:endParaRPr lang="en-US" dirty="0"/>
          </a:p>
          <a:p>
            <a:r>
              <a:rPr lang="en-US" dirty="0"/>
              <a:t>National Education Policy 2020 (Documents): </a:t>
            </a:r>
            <a:r>
              <a:rPr lang="en-US" dirty="0">
                <a:hlinkClick r:id="rId6"/>
              </a:rPr>
              <a:t>https://scert.delhi.gov.in/scert/nep-2020-documents</a:t>
            </a:r>
            <a:endParaRPr lang="en-US" dirty="0"/>
          </a:p>
          <a:p>
            <a:r>
              <a:rPr lang="en-US" dirty="0"/>
              <a:t>Project SATH-E Main Page (NITI Aayog): </a:t>
            </a:r>
            <a:r>
              <a:rPr lang="en-US" dirty="0">
                <a:hlinkClick r:id="rId7"/>
              </a:rPr>
              <a:t>https://www.niti.gov.in/index.php/project-sath-e</a:t>
            </a:r>
            <a:endParaRPr lang="en-US" dirty="0"/>
          </a:p>
          <a:p>
            <a:r>
              <a:rPr lang="en-US" dirty="0"/>
              <a:t>Project SATH-E Detailed Report (PDF - The SATH-E Experience, NITI Aayog): </a:t>
            </a:r>
            <a:r>
              <a:rPr lang="en-US" dirty="0">
                <a:hlinkClick r:id="rId8"/>
              </a:rPr>
              <a:t>https://www.niti.gov.in/sites/default/files/202111/BCG_SATHE_DIGITAL_13112021_0.pdf</a:t>
            </a:r>
            <a:endParaRPr lang="en-US" dirty="0"/>
          </a:p>
          <a:p>
            <a:r>
              <a:rPr lang="en-US" dirty="0"/>
              <a:t>Learnings for Large-scale Transformation in School Education (SATH-E, Full Report PDF):</a:t>
            </a:r>
            <a:br>
              <a:rPr lang="en-US" dirty="0"/>
            </a:br>
            <a:r>
              <a:rPr lang="en-US" dirty="0">
                <a:hlinkClick r:id="rId9"/>
              </a:rPr>
              <a:t>https://www.niti.gov.in/sites/default/files/2023-11/Project-SATH-Learings-for-Large-Scale-Tranformation-in-School-Education_compressed.pdf</a:t>
            </a:r>
            <a:endParaRPr lang="en-US" dirty="0"/>
          </a:p>
          <a:p>
            <a:r>
              <a:rPr lang="en-US" dirty="0"/>
              <a:t>Systemic Transformation of School Education (SATH-E Report, NITI Aayog):</a:t>
            </a:r>
            <a:r>
              <a:rPr lang="en-US" dirty="0">
                <a:hlinkClick r:id="rId10"/>
              </a:rPr>
              <a:t>https://www.niti.gov.in/node/1141</a:t>
            </a:r>
            <a:endParaRPr lang="en-US" dirty="0"/>
          </a:p>
          <a:p>
            <a:endParaRPr lang="en-US" dirty="0"/>
          </a:p>
          <a:p>
            <a:r>
              <a:rPr lang="en-US" dirty="0"/>
              <a:t>Official </a:t>
            </a:r>
            <a:r>
              <a:rPr lang="en-US" dirty="0" err="1"/>
              <a:t>Espressif</a:t>
            </a:r>
            <a:r>
              <a:rPr lang="en-US" dirty="0"/>
              <a:t> ESP32 Datasheet: </a:t>
            </a:r>
            <a:r>
              <a:rPr lang="en-US" dirty="0">
                <a:hlinkClick r:id="rId11"/>
              </a:rPr>
              <a:t>https://www.espressif.com/sites/default/files/documentation/esp32_datasheet_en.pdf</a:t>
            </a:r>
            <a:endParaRPr lang="en-US" dirty="0"/>
          </a:p>
          <a:p>
            <a:r>
              <a:rPr lang="en-US" dirty="0" err="1"/>
              <a:t>Espressif</a:t>
            </a:r>
            <a:r>
              <a:rPr lang="en-US" dirty="0"/>
              <a:t> ESP32 Technical Reference Manual (Detailed Hardware &amp; Architecture):</a:t>
            </a:r>
            <a:br>
              <a:rPr lang="en-US" dirty="0"/>
            </a:br>
            <a:r>
              <a:rPr lang="en-US" dirty="0">
                <a:hlinkClick r:id="rId12"/>
              </a:rPr>
              <a:t>https://www.espressif.com/sites/default/files/documentation/esp32_technical_reference_manual_en.pdf</a:t>
            </a:r>
            <a:endParaRPr lang="en-US" dirty="0"/>
          </a:p>
          <a:p>
            <a:r>
              <a:rPr lang="en-US" dirty="0"/>
              <a:t>ESP32-CAM Hardware Documentation (M5Stack): </a:t>
            </a:r>
            <a:r>
              <a:rPr lang="en-US" dirty="0">
                <a:hlinkClick r:id="rId13"/>
              </a:rPr>
              <a:t>https://docs.m5stack.com/en/unit/esp32cam</a:t>
            </a:r>
            <a:endParaRPr lang="en-US" dirty="0"/>
          </a:p>
          <a:p>
            <a:endParaRPr lang="en-US" dirty="0"/>
          </a:p>
          <a:p>
            <a:r>
              <a:rPr lang="en-US" dirty="0"/>
              <a:t>Raspberry Pi 4 Official Getting Started Guide: </a:t>
            </a:r>
            <a:r>
              <a:rPr lang="en-US" dirty="0">
                <a:hlinkClick r:id="rId14"/>
              </a:rPr>
              <a:t>https://www.raspberrypi.com/documentation/computers/getting-started.html</a:t>
            </a:r>
            <a:endParaRPr lang="en-US" dirty="0"/>
          </a:p>
          <a:p>
            <a:r>
              <a:rPr lang="en-US" dirty="0"/>
              <a:t>Raspberry Pi 4 Hardware Manual and Specifications: </a:t>
            </a:r>
            <a:r>
              <a:rPr lang="en-US" dirty="0">
                <a:hlinkClick r:id="rId15"/>
              </a:rPr>
              <a:t>https://manuals.plus/raspberry-pi/raspberry-pi-4-computer-model-b-manual</a:t>
            </a:r>
            <a:endParaRPr lang="en-US" dirty="0"/>
          </a:p>
          <a:p>
            <a:r>
              <a:rPr lang="en-US" dirty="0"/>
              <a:t>Official Raspberry Pi Documentation Portal: </a:t>
            </a:r>
            <a:r>
              <a:rPr lang="en-US" dirty="0">
                <a:hlinkClick r:id="rId16"/>
              </a:rPr>
              <a:t>https://www.raspberrypi.com/documentation/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77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8031</TotalTime>
  <Words>819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anup.s.bartakke@gmail.com</cp:lastModifiedBy>
  <cp:revision>161</cp:revision>
  <dcterms:created xsi:type="dcterms:W3CDTF">2013-12-12T18:46:50Z</dcterms:created>
  <dcterms:modified xsi:type="dcterms:W3CDTF">2025-09-19T17:01:34Z</dcterms:modified>
</cp:coreProperties>
</file>